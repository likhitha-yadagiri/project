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8" r:id="rId13"/>
    <p:sldId id="266" r:id="rId1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74" userDrawn="1">
          <p15:clr>
            <a:srgbClr val="A4A3A4"/>
          </p15:clr>
        </p15:guide>
        <p15:guide id="2" pos="21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8" d="100"/>
          <a:sy n="78" d="100"/>
        </p:scale>
        <p:origin x="850" y="62"/>
      </p:cViewPr>
      <p:guideLst>
        <p:guide orient="horz" pos="2874"/>
        <p:guide pos="21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thub.com/Likhitha-yadagiri/project.git&#13;"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42950" y="11049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p:txBody>
      </p:sp>
      <p:sp>
        <p:nvSpPr>
          <p:cNvPr id="7" name="object 7"/>
          <p:cNvSpPr txBox="1">
            <a:spLocks noGrp="1"/>
          </p:cNvSpPr>
          <p:nvPr>
            <p:ph type="ctrTitle"/>
          </p:nvPr>
        </p:nvSpPr>
        <p:spPr>
          <a:xfrm>
            <a:off x="3195320" y="2067560"/>
            <a:ext cx="6830695" cy="508635"/>
          </a:xfrm>
          <a:prstGeom prst="rect">
            <a:avLst/>
          </a:prstGeom>
        </p:spPr>
        <p:txBody>
          <a:bodyPr vert="horz" wrap="square" lIns="0" tIns="16510" rIns="0" bIns="0" rtlCol="0">
            <a:spAutoFit/>
          </a:bodyPr>
          <a:lstStyle/>
          <a:p>
            <a:pPr marL="3213735">
              <a:lnSpc>
                <a:spcPct val="100000"/>
              </a:lnSpc>
              <a:spcBef>
                <a:spcPts val="130"/>
              </a:spcBef>
            </a:pPr>
            <a:r>
              <a:rPr lang="en-US" spc="15" dirty="0"/>
              <a:t>Yadagiri Likhitha</a:t>
            </a:r>
            <a:endParaRPr lang="en-US" spc="15" dirty="0"/>
          </a:p>
        </p:txBody>
      </p:sp>
      <p:sp>
        <p:nvSpPr>
          <p:cNvPr id="8" name="object 8"/>
          <p:cNvSpPr txBox="1"/>
          <p:nvPr/>
        </p:nvSpPr>
        <p:spPr>
          <a:xfrm>
            <a:off x="6484620" y="2821622"/>
            <a:ext cx="1859280" cy="391795"/>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2D936B"/>
                </a:solidFill>
                <a:latin typeface="Trebuchet MS" panose="020B0603020202020204"/>
                <a:cs typeface="Trebuchet MS" panose="020B0603020202020204"/>
              </a:rPr>
              <a:t>Final</a:t>
            </a:r>
            <a:r>
              <a:rPr sz="2400" b="1" spc="-165" dirty="0">
                <a:solidFill>
                  <a:srgbClr val="2D936B"/>
                </a:solidFill>
                <a:latin typeface="Trebuchet MS" panose="020B0603020202020204"/>
                <a:cs typeface="Trebuchet MS" panose="020B0603020202020204"/>
              </a:rPr>
              <a:t> </a:t>
            </a:r>
            <a:r>
              <a:rPr sz="2400" b="1" spc="-5" dirty="0">
                <a:solidFill>
                  <a:srgbClr val="2D936B"/>
                </a:solidFill>
                <a:latin typeface="Trebuchet MS" panose="020B0603020202020204"/>
                <a:cs typeface="Trebuchet MS" panose="020B0603020202020204"/>
              </a:rPr>
              <a:t>Project</a:t>
            </a:r>
            <a:endParaRPr sz="2400">
              <a:latin typeface="Trebuchet MS" panose="020B0603020202020204"/>
              <a:cs typeface="Trebuchet MS" panose="020B0603020202020204"/>
            </a:endParaRPr>
          </a:p>
        </p:txBody>
      </p:sp>
      <p:pic>
        <p:nvPicPr>
          <p:cNvPr id="9" name="object 9"/>
          <p:cNvPicPr/>
          <p:nvPr/>
        </p:nvPicPr>
        <p:blipFill>
          <a:blip r:embed="rId1" cstate="print"/>
          <a:stretch>
            <a:fillRect/>
          </a:stretch>
        </p:blipFill>
        <p:spPr>
          <a:xfrm>
            <a:off x="676275" y="6467475"/>
            <a:ext cx="2143125" cy="200025"/>
          </a:xfrm>
          <a:prstGeom prst="rect">
            <a:avLst/>
          </a:prstGeom>
        </p:spPr>
      </p:pic>
      <p:sp>
        <p:nvSpPr>
          <p:cNvPr id="10" name="object 10"/>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sp>
        <p:nvSpPr>
          <p:cNvPr id="17" name="object 17"/>
          <p:cNvSpPr txBox="1">
            <a:spLocks noGrp="1"/>
          </p:cNvSpPr>
          <p:nvPr>
            <p:ph type="title"/>
          </p:nvPr>
        </p:nvSpPr>
        <p:spPr>
          <a:xfrm>
            <a:off x="739775" y="829627"/>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1" cstate="print"/>
            <a:stretch>
              <a:fillRect/>
            </a:stretch>
          </p:blipFill>
          <p:spPr>
            <a:xfrm>
              <a:off x="676275" y="6467475"/>
              <a:ext cx="2143125" cy="200025"/>
            </a:xfrm>
            <a:prstGeom prst="rect">
              <a:avLst/>
            </a:prstGeom>
          </p:spPr>
        </p:pic>
        <p:pic>
          <p:nvPicPr>
            <p:cNvPr id="20" name="object 20"/>
            <p:cNvPicPr/>
            <p:nvPr/>
          </p:nvPicPr>
          <p:blipFill>
            <a:blip r:embed="rId2" cstate="print"/>
            <a:stretch>
              <a:fillRect/>
            </a:stretch>
          </p:blipFill>
          <p:spPr>
            <a:xfrm>
              <a:off x="466725" y="6410325"/>
              <a:ext cx="3705225" cy="295275"/>
            </a:xfrm>
            <a:prstGeom prst="rect">
              <a:avLst/>
            </a:prstGeom>
          </p:spPr>
        </p:pic>
      </p:grpSp>
      <p:sp>
        <p:nvSpPr>
          <p:cNvPr id="21" name="object 21"/>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24" name="Text Box 23"/>
          <p:cNvSpPr txBox="1"/>
          <p:nvPr/>
        </p:nvSpPr>
        <p:spPr>
          <a:xfrm>
            <a:off x="3778250" y="2371090"/>
            <a:ext cx="4036695" cy="452120"/>
          </a:xfrm>
          <a:prstGeom prst="rect">
            <a:avLst/>
          </a:prstGeom>
          <a:noFill/>
        </p:spPr>
        <p:txBody>
          <a:bodyPr wrap="square" rtlCol="0">
            <a:noAutofit/>
          </a:bodyPr>
          <a:p>
            <a:r>
              <a:rPr lang="en-US" sz="4800">
                <a:latin typeface="Times New Roman" panose="02020603050405020304" pitchFamily="18" charset="0"/>
                <a:cs typeface="Times New Roman" panose="02020603050405020304" pitchFamily="18" charset="0"/>
              </a:rPr>
              <a:t>Keylogger </a:t>
            </a:r>
            <a:endParaRPr lang="en-US" sz="4800">
              <a:latin typeface="Times New Roman" panose="02020603050405020304" pitchFamily="18" charset="0"/>
              <a:cs typeface="Times New Roman" panose="02020603050405020304" pitchFamily="18" charset="0"/>
            </a:endParaRPr>
          </a:p>
          <a:p>
            <a:r>
              <a:rPr lang="en-US" sz="4800">
                <a:latin typeface="Times New Roman" panose="02020603050405020304" pitchFamily="18" charset="0"/>
                <a:cs typeface="Times New Roman" panose="02020603050405020304" pitchFamily="18" charset="0"/>
              </a:rPr>
              <a:t>      &amp;</a:t>
            </a:r>
            <a:endParaRPr lang="en-US" sz="4800">
              <a:latin typeface="Times New Roman" panose="02020603050405020304" pitchFamily="18" charset="0"/>
              <a:cs typeface="Times New Roman" panose="02020603050405020304" pitchFamily="18" charset="0"/>
            </a:endParaRPr>
          </a:p>
          <a:p>
            <a:r>
              <a:rPr lang="en-US" sz="4800">
                <a:latin typeface="Times New Roman" panose="02020603050405020304" pitchFamily="18" charset="0"/>
                <a:cs typeface="Times New Roman" panose="02020603050405020304" pitchFamily="18" charset="0"/>
              </a:rPr>
              <a:t>Security</a:t>
            </a:r>
            <a:endParaRPr lang="en-US" sz="480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905000" y="1295400"/>
            <a:ext cx="9543415" cy="4012565"/>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pPr>
              <a:lnSpc>
                <a:spcPct val="150000"/>
              </a:lnSpc>
            </a:pPr>
            <a:r>
              <a:rPr lang="en-US" sz="2400" dirty="0">
                <a:latin typeface="Times New Roman" panose="02020603050405020304" pitchFamily="18" charset="0"/>
                <a:cs typeface="Times New Roman" panose="02020603050405020304" pitchFamily="18" charset="0"/>
                <a:sym typeface="+mn-ea"/>
              </a:rPr>
              <a:t>This presentation provides an insight into Enhancing Security </a:t>
            </a:r>
            <a:endParaRPr lang="en-US" sz="2400" dirty="0">
              <a:latin typeface="Times New Roman" panose="02020603050405020304" pitchFamily="18" charset="0"/>
              <a:cs typeface="Times New Roman" panose="02020603050405020304" pitchFamily="18" charset="0"/>
              <a:sym typeface="+mn-ea"/>
            </a:endParaRPr>
          </a:p>
          <a:p>
            <a:pPr>
              <a:lnSpc>
                <a:spcPct val="150000"/>
              </a:lnSpc>
            </a:pPr>
            <a:r>
              <a:rPr lang="en-US" sz="2400" dirty="0">
                <a:latin typeface="Times New Roman" panose="02020603050405020304" pitchFamily="18" charset="0"/>
                <a:cs typeface="Times New Roman" panose="02020603050405020304" pitchFamily="18" charset="0"/>
                <a:sym typeface="+mn-ea"/>
              </a:rPr>
              <a:t>Measures through the use of a Keylogger Python Program. </a:t>
            </a:r>
            <a:endParaRPr lang="en-US" sz="2400" dirty="0">
              <a:latin typeface="Times New Roman" panose="02020603050405020304" pitchFamily="18" charset="0"/>
              <a:cs typeface="Times New Roman" panose="02020603050405020304" pitchFamily="18" charset="0"/>
              <a:sym typeface="+mn-ea"/>
            </a:endParaRPr>
          </a:p>
          <a:p>
            <a:pPr>
              <a:lnSpc>
                <a:spcPct val="150000"/>
              </a:lnSpc>
            </a:pPr>
            <a:r>
              <a:rPr lang="en-US" sz="2400" dirty="0">
                <a:latin typeface="Times New Roman" panose="02020603050405020304" pitchFamily="18" charset="0"/>
                <a:cs typeface="Times New Roman" panose="02020603050405020304" pitchFamily="18" charset="0"/>
                <a:sym typeface="+mn-ea"/>
              </a:rPr>
              <a:t>The program's functionalities and potential impact on security</a:t>
            </a:r>
            <a:endParaRPr lang="en-US" sz="2400" dirty="0">
              <a:latin typeface="Times New Roman" panose="02020603050405020304" pitchFamily="18" charset="0"/>
              <a:cs typeface="Times New Roman" panose="02020603050405020304" pitchFamily="18" charset="0"/>
              <a:sym typeface="+mn-ea"/>
            </a:endParaRPr>
          </a:p>
          <a:p>
            <a:pPr>
              <a:lnSpc>
                <a:spcPct val="150000"/>
              </a:lnSpc>
            </a:pPr>
            <a:r>
              <a:rPr lang="en-US" sz="2400" dirty="0">
                <a:latin typeface="Times New Roman" panose="02020603050405020304" pitchFamily="18" charset="0"/>
                <a:cs typeface="Times New Roman" panose="02020603050405020304" pitchFamily="18" charset="0"/>
                <a:sym typeface="+mn-ea"/>
              </a:rPr>
              <a:t> will be discussed.</a:t>
            </a:r>
            <a:endParaRPr lang="en-US" sz="240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p:txBody>
      </p:sp>
      <p:pic>
        <p:nvPicPr>
          <p:cNvPr id="17" name="object 17"/>
          <p:cNvPicPr/>
          <p:nvPr/>
        </p:nvPicPr>
        <p:blipFill>
          <a:blip r:embed="rId1"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2" cstate="print"/>
            <a:stretch>
              <a:fillRect/>
            </a:stretch>
          </p:blipFill>
          <p:spPr>
            <a:xfrm>
              <a:off x="466725" y="6410325"/>
              <a:ext cx="3705225" cy="295275"/>
            </a:xfrm>
            <a:prstGeom prst="rect">
              <a:avLst/>
            </a:prstGeom>
          </p:spPr>
        </p:pic>
        <p:pic>
          <p:nvPicPr>
            <p:cNvPr id="20" name="object 20"/>
            <p:cNvPicPr/>
            <p:nvPr/>
          </p:nvPicPr>
          <p:blipFill>
            <a:blip r:embed="rId3"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endParaRPr dirty="0"/>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5" name="object 5"/>
            <p:cNvPicPr/>
            <p:nvPr/>
          </p:nvPicPr>
          <p:blipFill>
            <a:blip r:embed="rId1"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pic>
        <p:nvPicPr>
          <p:cNvPr id="8" name="object 8"/>
          <p:cNvPicPr/>
          <p:nvPr/>
        </p:nvPicPr>
        <p:blipFill>
          <a:blip r:embed="rId2"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11" name="Text Box 10"/>
          <p:cNvSpPr txBox="1"/>
          <p:nvPr/>
        </p:nvSpPr>
        <p:spPr>
          <a:xfrm>
            <a:off x="739775" y="2286000"/>
            <a:ext cx="7360285" cy="2343785"/>
          </a:xfrm>
          <a:prstGeom prst="rect">
            <a:avLst/>
          </a:prstGeom>
          <a:noFill/>
        </p:spPr>
        <p:txBody>
          <a:bodyPr wrap="square" rtlCol="0">
            <a:noAutofit/>
          </a:bodyPr>
          <a:p>
            <a:r>
              <a:rPr lang="en-US" sz="2400">
                <a:latin typeface="Times New Roman" panose="02020603050405020304" pitchFamily="18" charset="0"/>
                <a:cs typeface="Times New Roman" panose="02020603050405020304" pitchFamily="18" charset="0"/>
              </a:rPr>
              <a:t>Keyloggers are a genuine danger to clients and the clients'</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information, which is considered exploitative movement.</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The problem statement is that the keyloggers can be</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detected using antiviruses. Installation of hardware</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keyloggers is difficult without the knowledge of the owner of the system. </a:t>
            </a:r>
            <a:endParaRPr lang="en-US" sz="240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5" name="object 5"/>
            <p:cNvPicPr/>
            <p:nvPr/>
          </p:nvPicPr>
          <p:blipFill>
            <a:blip r:embed="rId1"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2"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11" name="Text Box 10"/>
          <p:cNvSpPr txBox="1"/>
          <p:nvPr/>
        </p:nvSpPr>
        <p:spPr>
          <a:xfrm>
            <a:off x="533400" y="1507490"/>
            <a:ext cx="8670925" cy="5043170"/>
          </a:xfrm>
          <a:prstGeom prst="rect">
            <a:avLst/>
          </a:prstGeom>
          <a:noFill/>
        </p:spPr>
        <p:txBody>
          <a:bodyPr wrap="square" rtlCol="0">
            <a:noAutofit/>
          </a:bodyPr>
          <a:p>
            <a:r>
              <a:rPr lang="en-US" b="1">
                <a:latin typeface="Times New Roman" panose="02020603050405020304" pitchFamily="18" charset="0"/>
                <a:cs typeface="Times New Roman" panose="02020603050405020304" pitchFamily="18" charset="0"/>
              </a:rPr>
              <a:t>Introduction:</a:t>
            </a:r>
            <a:endParaRPr lang="en-US"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Briefly introduce the project and its significance in the context of cybersecurity.</a:t>
            </a: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Highlight the growing threat of keyloggers and the need for effective countermeasures.</a:t>
            </a:r>
            <a:endParaRPr lang="en-US">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Project Objectives:</a:t>
            </a:r>
            <a:endParaRPr lang="en-US"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Developing a better understanding of keylogger functionality and behavior.</a:t>
            </a: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Evaluating the effectiveness of existing detection and prevention methods.</a:t>
            </a: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Proposing improvements or new approaches to mitigate keylogger risks.</a:t>
            </a: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Resources Required:</a:t>
            </a:r>
            <a:endParaRPr lang="en-US"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Identify the resources needed to carry out the project successfully.</a:t>
            </a: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This may include personnel, equipment, software tools, and access to research materials.</a:t>
            </a:r>
            <a:endParaRPr lang="en-US">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Conclusion:</a:t>
            </a:r>
            <a:endParaRPr lang="en-US"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Summarize the key points covered in the project overview.</a:t>
            </a: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Reiterate the importance of the project in addressing keylogger threats and enhancing cybersecurity resilience.</a:t>
            </a:r>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25" name="Subtitle 24"/>
          <p:cNvSpPr>
            <a:spLocks noGrp="1"/>
          </p:cNvSpPr>
          <p:nvPr>
            <p:ph type="subTitle" idx="4"/>
          </p:nvPr>
        </p:nvSpPr>
        <p:spPr>
          <a:xfrm>
            <a:off x="381000" y="1696085"/>
            <a:ext cx="9577070" cy="5207635"/>
          </a:xfrm>
        </p:spPr>
        <p:txBody>
          <a:bodyPr>
            <a:noAutofit/>
          </a:bodyPr>
          <a:p>
            <a:pPr marL="342900" indent="-342900">
              <a:buFont typeface="Wingdings" panose="05000000000000000000" charset="0"/>
              <a:buChar char="q"/>
            </a:pPr>
            <a:r>
              <a:rPr lang="en-US" b="1"/>
              <a:t>S</a:t>
            </a:r>
            <a:r>
              <a:rPr lang="en-US" sz="2000" b="1">
                <a:latin typeface="Times New Roman" panose="02020603050405020304" pitchFamily="18" charset="0"/>
                <a:cs typeface="Times New Roman" panose="02020603050405020304" pitchFamily="18" charset="0"/>
              </a:rPr>
              <a:t>ecurity Professionals</a:t>
            </a:r>
            <a:r>
              <a:rPr lang="en-US" sz="2000">
                <a:latin typeface="Times New Roman" panose="02020603050405020304" pitchFamily="18" charset="0"/>
                <a:cs typeface="Times New Roman" panose="02020603050405020304" pitchFamily="18" charset="0"/>
              </a:rPr>
              <a:t>: Security professionals might use keyloggers for ethical hacking, penetration testing, or security auditing purposes to identify vulnerabilities in systems and networks.</a:t>
            </a:r>
            <a:endParaRPr lang="en-US" sz="20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q"/>
            </a:pPr>
            <a:endParaRPr lang="en-US" sz="20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q"/>
            </a:pPr>
            <a:r>
              <a:rPr lang="en-US" sz="2000" b="1">
                <a:latin typeface="Times New Roman" panose="02020603050405020304" pitchFamily="18" charset="0"/>
                <a:cs typeface="Times New Roman" panose="02020603050405020304" pitchFamily="18" charset="0"/>
              </a:rPr>
              <a:t>Employers:</a:t>
            </a:r>
            <a:r>
              <a:rPr lang="en-US" sz="2000">
                <a:latin typeface="Times New Roman" panose="02020603050405020304" pitchFamily="18" charset="0"/>
                <a:cs typeface="Times New Roman" panose="02020603050405020304" pitchFamily="18" charset="0"/>
              </a:rPr>
              <a:t> Some employers may use keyloggers to monitor employees' computer activities for security, productivity, or compliance reasons, especially in industries where sensitive information is handled.</a:t>
            </a:r>
            <a:endParaRPr lang="en-US" sz="20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q"/>
            </a:pPr>
            <a:endParaRPr lang="en-US" sz="20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q"/>
            </a:pPr>
            <a:r>
              <a:rPr lang="en-US" sz="2000" b="1">
                <a:latin typeface="Times New Roman" panose="02020603050405020304" pitchFamily="18" charset="0"/>
                <a:cs typeface="Times New Roman" panose="02020603050405020304" pitchFamily="18" charset="0"/>
              </a:rPr>
              <a:t>Individuals:</a:t>
            </a:r>
            <a:r>
              <a:rPr lang="en-US" sz="2000">
                <a:latin typeface="Times New Roman" panose="02020603050405020304" pitchFamily="18" charset="0"/>
                <a:cs typeface="Times New Roman" panose="02020603050405020304" pitchFamily="18" charset="0"/>
              </a:rPr>
              <a:t> Individuals might use keyloggers to monitor their own computer usage, track their typing speed, or keep a record of their keystrokes for personal reasons.</a:t>
            </a:r>
            <a:endParaRPr lang="en-US" sz="20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q"/>
            </a:pPr>
            <a:endParaRPr lang="en-US" sz="2000" b="1">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q"/>
            </a:pPr>
            <a:r>
              <a:rPr lang="en-US" sz="2000" b="1">
                <a:latin typeface="Times New Roman" panose="02020603050405020304" pitchFamily="18" charset="0"/>
                <a:cs typeface="Times New Roman" panose="02020603050405020304" pitchFamily="18" charset="0"/>
              </a:rPr>
              <a:t>Law Enforcement:</a:t>
            </a:r>
            <a:r>
              <a:rPr lang="en-US" sz="2000">
                <a:latin typeface="Times New Roman" panose="02020603050405020304" pitchFamily="18" charset="0"/>
                <a:cs typeface="Times New Roman" panose="02020603050405020304" pitchFamily="18" charset="0"/>
              </a:rPr>
              <a:t> Law enforcement agencies might use keyloggers as part of their investigations into cybercrime, such as hacking, identity theft, or fraud.</a:t>
            </a:r>
            <a:endParaRPr lang="en-US" sz="2000">
              <a:latin typeface="Times New Roman" panose="02020603050405020304" pitchFamily="18" charset="0"/>
              <a:cs typeface="Times New Roman" panose="02020603050405020304" pitchFamily="18" charset="0"/>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sp>
        <p:nvSpPr>
          <p:cNvPr id="5" name="object 5"/>
          <p:cNvSpPr txBox="1">
            <a:spLocks noGrp="1"/>
          </p:cNvSpPr>
          <p:nvPr>
            <p:ph type="ctrTitle"/>
          </p:nvPr>
        </p:nvSpPr>
        <p:spPr>
          <a:xfrm>
            <a:off x="457517" y="457453"/>
            <a:ext cx="5014595" cy="508635"/>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1" cstate="print"/>
          <a:stretch>
            <a:fillRect/>
          </a:stretch>
        </p:blipFill>
        <p:spPr>
          <a:xfrm>
            <a:off x="723900" y="6172200"/>
            <a:ext cx="2181225" cy="485775"/>
          </a:xfrm>
          <a:prstGeom prst="rect">
            <a:avLst/>
          </a:prstGeom>
        </p:spPr>
      </p:pic>
      <p:sp>
        <p:nvSpPr>
          <p:cNvPr id="7" name="object 7"/>
          <p:cNvSpPr txBox="1"/>
          <p:nvPr/>
        </p:nvSpPr>
        <p:spPr>
          <a:xfrm>
            <a:off x="739775" y="6473337"/>
            <a:ext cx="1798955" cy="175895"/>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8" name="object 8"/>
          <p:cNvSpPr txBox="1">
            <a:spLocks noGrp="1"/>
          </p:cNvSpPr>
          <p:nvPr>
            <p:ph type="sldNum" sz="quarter" idx="7"/>
          </p:nvPr>
        </p:nvSpPr>
        <p:spPr>
          <a:xfrm>
            <a:off x="11353418" y="6473337"/>
            <a:ext cx="151129" cy="175895"/>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11" name="Text Box 10"/>
          <p:cNvSpPr txBox="1"/>
          <p:nvPr/>
        </p:nvSpPr>
        <p:spPr>
          <a:xfrm>
            <a:off x="5186680" y="1696085"/>
            <a:ext cx="2162810" cy="4123690"/>
          </a:xfrm>
          <a:prstGeom prst="rect">
            <a:avLst/>
          </a:prstGeom>
          <a:noFill/>
        </p:spPr>
        <p:txBody>
          <a:bodyPr wrap="square" rtlCol="0">
            <a:noAutofit/>
          </a:bodyPr>
          <a:p>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sz="3600" spc="-40" dirty="0"/>
              <a:t>Y</a:t>
            </a:r>
            <a:r>
              <a:rPr sz="3600" spc="10" dirty="0"/>
              <a:t>O</a:t>
            </a:r>
            <a:r>
              <a:rPr sz="3600" spc="25" dirty="0"/>
              <a:t>U</a:t>
            </a:r>
            <a:r>
              <a:rPr sz="3600" dirty="0"/>
              <a:t>R</a:t>
            </a:r>
            <a:r>
              <a:rPr sz="3600" spc="5" dirty="0"/>
              <a:t> </a:t>
            </a: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endParaRPr sz="3600"/>
          </a:p>
        </p:txBody>
      </p:sp>
      <p:pic>
        <p:nvPicPr>
          <p:cNvPr id="7" name="object 7"/>
          <p:cNvPicPr/>
          <p:nvPr/>
        </p:nvPicPr>
        <p:blipFill>
          <a:blip r:embed="rId2" cstate="print"/>
          <a:stretch>
            <a:fillRect/>
          </a:stretch>
        </p:blipFill>
        <p:spPr>
          <a:xfrm>
            <a:off x="676275" y="6467475"/>
            <a:ext cx="2143125" cy="200025"/>
          </a:xfrm>
          <a:prstGeom prst="rect">
            <a:avLst/>
          </a:prstGeom>
        </p:spPr>
      </p:pic>
      <p:sp>
        <p:nvSpPr>
          <p:cNvPr id="8" name="object 8"/>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10" name="Text Box 9"/>
          <p:cNvSpPr txBox="1"/>
          <p:nvPr/>
        </p:nvSpPr>
        <p:spPr>
          <a:xfrm>
            <a:off x="2949575" y="1605280"/>
            <a:ext cx="7371715" cy="4756785"/>
          </a:xfrm>
          <a:prstGeom prst="rect">
            <a:avLst/>
          </a:prstGeom>
          <a:noFill/>
        </p:spPr>
        <p:txBody>
          <a:bodyPr wrap="square" rtlCol="0">
            <a:noAutofit/>
          </a:bodyPr>
          <a:p>
            <a:pPr marL="342900" indent="-342900">
              <a:buFont typeface="Wingdings" panose="05000000000000000000" charset="0"/>
              <a:buChar char="q"/>
            </a:pPr>
            <a:r>
              <a:rPr lang="en-US" sz="2000" b="1" dirty="0">
                <a:latin typeface="Times New Roman" panose="02020603050405020304" pitchFamily="18" charset="0"/>
                <a:cs typeface="Times New Roman" panose="02020603050405020304" pitchFamily="18" charset="0"/>
                <a:sym typeface="+mn-ea"/>
              </a:rPr>
              <a:t>Prevention: </a:t>
            </a:r>
            <a:r>
              <a:rPr lang="en-US" sz="2000" dirty="0">
                <a:latin typeface="Times New Roman" panose="02020603050405020304" pitchFamily="18" charset="0"/>
                <a:cs typeface="Times New Roman" panose="02020603050405020304" pitchFamily="18" charset="0"/>
                <a:sym typeface="+mn-ea"/>
              </a:rPr>
              <a:t> - Educate users: Teach users about the risks</a:t>
            </a:r>
            <a:endParaRPr lang="en-US" sz="2000" dirty="0">
              <a:latin typeface="Times New Roman" panose="02020603050405020304" pitchFamily="18" charset="0"/>
              <a:cs typeface="Times New Roman" panose="02020603050405020304" pitchFamily="18" charset="0"/>
              <a:sym typeface="+mn-ea"/>
            </a:endParaRPr>
          </a:p>
          <a:p>
            <a:pPr indent="0">
              <a:buNone/>
            </a:pPr>
            <a:r>
              <a:rPr lang="en-US" sz="2000" dirty="0">
                <a:latin typeface="Times New Roman" panose="02020603050405020304" pitchFamily="18" charset="0"/>
                <a:cs typeface="Times New Roman" panose="02020603050405020304" pitchFamily="18" charset="0"/>
                <a:sym typeface="+mn-ea"/>
              </a:rPr>
              <a:t> associated with keyloggers and how to recognize suspicious behavior.    </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mn-ea"/>
              </a:rPr>
              <a:t> Use antivirus and antimalware software: Invest in reputable security software that can detect and prevent keyloggers from being installed on your system.  </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mn-ea"/>
              </a:rPr>
              <a:t> Keep software updated: Regularly update your operating system and software to patch vulnerabilities thatcould be exploited by keyloggers.</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mn-ea"/>
              </a:rPr>
              <a:t>The value proposition of a robust keylogger prevention and detection solution lies in safeguarding sensitive information, protecting privacy, and maintaining the integrity of systems and networks. By implementing effective security measures, businesses and individuals can mitigate the risks associated with keyloggers and other forms of malware.</a:t>
            </a:r>
            <a:endParaRPr lang="en-IN" sz="2000" dirty="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6" name="object 6"/>
          <p:cNvPicPr/>
          <p:nvPr/>
        </p:nvPicPr>
        <p:blipFill>
          <a:blip r:embed="rId1"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7543165" cy="678180"/>
          </a:xfrm>
          <a:prstGeom prst="rect">
            <a:avLst/>
          </a:prstGeom>
        </p:spPr>
        <p:txBody>
          <a:bodyPr vert="horz" wrap="square" lIns="0" tIns="16510" rIns="0" bIns="0" rtlCol="0">
            <a:spAutoFit/>
          </a:bodyPr>
          <a:lstStyle/>
          <a:p>
            <a:pPr marL="12700">
              <a:lnSpc>
                <a:spcPct val="100000"/>
              </a:lnSpc>
              <a:spcBef>
                <a:spcPts val="130"/>
              </a:spcBef>
            </a:pPr>
            <a:r>
              <a:rPr sz="4250" spc="15" dirty="0"/>
              <a:t>THE</a:t>
            </a:r>
            <a:r>
              <a:rPr sz="4250" spc="20" dirty="0"/>
              <a:t> </a:t>
            </a:r>
            <a:r>
              <a:rPr sz="4250" spc="10" dirty="0"/>
              <a:t>WOW</a:t>
            </a:r>
            <a:r>
              <a:rPr sz="4250" spc="85" dirty="0"/>
              <a:t> </a:t>
            </a:r>
            <a:r>
              <a:rPr sz="4250" spc="10" dirty="0"/>
              <a:t>IN</a:t>
            </a:r>
            <a:r>
              <a:rPr sz="4250" spc="-5" dirty="0"/>
              <a:t> </a:t>
            </a:r>
            <a:r>
              <a:rPr sz="4250" spc="15" dirty="0"/>
              <a:t>YOUR</a:t>
            </a:r>
            <a:r>
              <a:rPr sz="4250" spc="-10" dirty="0"/>
              <a:t> </a:t>
            </a:r>
            <a:r>
              <a:rPr sz="4250" spc="20" dirty="0"/>
              <a:t>SOLUTION</a:t>
            </a:r>
            <a:endParaRPr sz="425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fld>
            <a:endParaRPr sz="1100">
              <a:latin typeface="Trebuchet MS" panose="020B0603020202020204"/>
              <a:cs typeface="Trebuchet MS" panose="020B0603020202020204"/>
            </a:endParaRPr>
          </a:p>
        </p:txBody>
      </p:sp>
      <p:sp>
        <p:nvSpPr>
          <p:cNvPr id="9" name="Text Box 8"/>
          <p:cNvSpPr txBox="1"/>
          <p:nvPr/>
        </p:nvSpPr>
        <p:spPr>
          <a:xfrm>
            <a:off x="2298065" y="1695450"/>
            <a:ext cx="7320915" cy="4790440"/>
          </a:xfrm>
          <a:prstGeom prst="rect">
            <a:avLst/>
          </a:prstGeom>
          <a:noFill/>
        </p:spPr>
        <p:txBody>
          <a:bodyPr wrap="square" rtlCol="0">
            <a:noAutofit/>
          </a:bodyPr>
          <a:p>
            <a:pPr marL="285750" indent="-285750">
              <a:buFont typeface="Wingdings" panose="05000000000000000000" charset="0"/>
              <a:buChar char="q"/>
            </a:pPr>
            <a:r>
              <a:rPr lang="en-US" b="1" dirty="0">
                <a:latin typeface="Times New Roman" panose="02020603050405020304" pitchFamily="18" charset="0"/>
                <a:cs typeface="Times New Roman" panose="02020603050405020304" pitchFamily="18" charset="0"/>
                <a:sym typeface="+mn-ea"/>
              </a:rPr>
              <a:t>Advanced Threat Detection: </a:t>
            </a:r>
            <a:r>
              <a:rPr lang="en-US" dirty="0">
                <a:latin typeface="Times New Roman" panose="02020603050405020304" pitchFamily="18" charset="0"/>
                <a:cs typeface="Times New Roman" panose="02020603050405020304" pitchFamily="18" charset="0"/>
                <a:sym typeface="+mn-ea"/>
              </a:rPr>
              <a:t>Utilizing cutting-edge machine learning algorithms and behavioral analysis, the solution can detect even the most sophisticated keyloggers, including those designed to evade traditional antivirus software.</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q"/>
            </a:pPr>
            <a:r>
              <a:rPr lang="en-US" b="1" dirty="0">
                <a:latin typeface="Times New Roman" panose="02020603050405020304" pitchFamily="18" charset="0"/>
                <a:cs typeface="Times New Roman" panose="02020603050405020304" pitchFamily="18" charset="0"/>
                <a:sym typeface="+mn-ea"/>
              </a:rPr>
              <a:t>Real-time Monitoring and Response:</a:t>
            </a:r>
            <a:r>
              <a:rPr lang="en-US" dirty="0">
                <a:latin typeface="Times New Roman" panose="02020603050405020304" pitchFamily="18" charset="0"/>
                <a:cs typeface="Times New Roman" panose="02020603050405020304" pitchFamily="18" charset="0"/>
                <a:sym typeface="+mn-ea"/>
              </a:rPr>
              <a:t> Offering real-time monitoring of user activities across devices, the solution can swiftly identify and respond to suspicious behavior indicative of keylogger activity, minimizing the potential damage.</a:t>
            </a:r>
            <a:endParaRPr lang="en-US" dirty="0">
              <a:latin typeface="Times New Roman" panose="02020603050405020304" pitchFamily="18" charset="0"/>
              <a:cs typeface="Times New Roman" panose="02020603050405020304" pitchFamily="18" charset="0"/>
              <a:sym typeface="+mn-ea"/>
            </a:endParaRPr>
          </a:p>
          <a:p>
            <a:pPr marL="285750" indent="-285750">
              <a:buFont typeface="Wingdings" panose="05000000000000000000" charset="0"/>
              <a:buChar char="q"/>
            </a:pPr>
            <a:r>
              <a:rPr lang="en-US" b="1" dirty="0">
                <a:latin typeface="Times New Roman" panose="02020603050405020304" pitchFamily="18" charset="0"/>
                <a:cs typeface="Times New Roman" panose="02020603050405020304" pitchFamily="18" charset="0"/>
                <a:sym typeface="+mn-ea"/>
              </a:rPr>
              <a:t>Privacy-Preserving Features: </a:t>
            </a:r>
            <a:r>
              <a:rPr lang="en-US" dirty="0">
                <a:latin typeface="Times New Roman" panose="02020603050405020304" pitchFamily="18" charset="0"/>
                <a:cs typeface="Times New Roman" panose="02020603050405020304" pitchFamily="18" charset="0"/>
                <a:sym typeface="+mn-ea"/>
              </a:rPr>
              <a:t>Implementing privacy-preserving features such as encrypted keystroke transmission and secure storage ensures that sensitive information remains protected even in the event of a </a:t>
            </a:r>
            <a:endParaRPr lang="en-US" dirty="0">
              <a:latin typeface="Times New Roman" panose="02020603050405020304" pitchFamily="18" charset="0"/>
              <a:cs typeface="Times New Roman" panose="02020603050405020304" pitchFamily="18" charset="0"/>
            </a:endParaRPr>
          </a:p>
          <a:p>
            <a:pPr indent="0">
              <a:buNone/>
            </a:pPr>
            <a:r>
              <a:rPr lang="en-US" dirty="0">
                <a:latin typeface="Times New Roman" panose="02020603050405020304" pitchFamily="18" charset="0"/>
                <a:cs typeface="Times New Roman" panose="02020603050405020304" pitchFamily="18" charset="0"/>
                <a:sym typeface="+mn-ea"/>
              </a:rPr>
              <a:t>      keylogger compromise.</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q"/>
            </a:pPr>
            <a:r>
              <a:rPr lang="en-US" b="1" dirty="0">
                <a:latin typeface="Times New Roman" panose="02020603050405020304" pitchFamily="18" charset="0"/>
                <a:cs typeface="Times New Roman" panose="02020603050405020304" pitchFamily="18" charset="0"/>
                <a:sym typeface="+mn-ea"/>
              </a:rPr>
              <a:t>User-Friendly Interface:</a:t>
            </a:r>
            <a:r>
              <a:rPr lang="en-US" dirty="0">
                <a:latin typeface="Times New Roman" panose="02020603050405020304" pitchFamily="18" charset="0"/>
                <a:cs typeface="Times New Roman" panose="02020603050405020304" pitchFamily="18" charset="0"/>
                <a:sym typeface="+mn-ea"/>
              </a:rPr>
              <a:t> Providing an intuitive user interface that empowers individuals and organizations to  easily manage their security settings, monitor for threats, and take proactive measures to enhance their defenses against keyloggers.</a:t>
            </a:r>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6" name="object 6"/>
          <p:cNvPicPr/>
          <p:nvPr/>
        </p:nvPicPr>
        <p:blipFill>
          <a:blip r:embed="rId1" cstate="print"/>
          <a:stretch>
            <a:fillRect/>
          </a:stretch>
        </p:blipFill>
        <p:spPr>
          <a:xfrm>
            <a:off x="1666875" y="6467475"/>
            <a:ext cx="76200" cy="177800"/>
          </a:xfrm>
          <a:prstGeom prst="rect">
            <a:avLst/>
          </a:prstGeom>
        </p:spPr>
      </p:pic>
      <p:sp>
        <p:nvSpPr>
          <p:cNvPr id="7" name="object 7"/>
          <p:cNvSpPr txBox="1"/>
          <p:nvPr/>
        </p:nvSpPr>
        <p:spPr>
          <a:xfrm>
            <a:off x="739775" y="1367853"/>
            <a:ext cx="2811780" cy="300355"/>
          </a:xfrm>
          <a:prstGeom prst="rect">
            <a:avLst/>
          </a:prstGeom>
        </p:spPr>
        <p:txBody>
          <a:bodyPr vert="horz" wrap="square" lIns="0" tIns="12700" rIns="0" bIns="0" rtlCol="0">
            <a:spAutoFit/>
          </a:bodyPr>
          <a:lstStyle/>
          <a:p>
            <a:pPr marL="12700">
              <a:lnSpc>
                <a:spcPct val="100000"/>
              </a:lnSpc>
              <a:spcBef>
                <a:spcPts val="100"/>
              </a:spcBef>
            </a:pPr>
            <a:r>
              <a:rPr sz="1800" spc="-45" dirty="0">
                <a:latin typeface="Trebuchet MS" panose="020B0603020202020204"/>
                <a:cs typeface="Trebuchet MS" panose="020B0603020202020204"/>
              </a:rPr>
              <a:t>Teams</a:t>
            </a:r>
            <a:r>
              <a:rPr sz="1800" spc="-15" dirty="0">
                <a:latin typeface="Trebuchet MS" panose="020B0603020202020204"/>
                <a:cs typeface="Trebuchet MS" panose="020B0603020202020204"/>
              </a:rPr>
              <a:t> </a:t>
            </a:r>
            <a:r>
              <a:rPr sz="1800" spc="10" dirty="0">
                <a:latin typeface="Trebuchet MS" panose="020B0603020202020204"/>
                <a:cs typeface="Trebuchet MS" panose="020B0603020202020204"/>
              </a:rPr>
              <a:t>cam</a:t>
            </a:r>
            <a:r>
              <a:rPr sz="1800" spc="-105" dirty="0">
                <a:latin typeface="Trebuchet MS" panose="020B0603020202020204"/>
                <a:cs typeface="Trebuchet MS" panose="020B0603020202020204"/>
              </a:rPr>
              <a:t> </a:t>
            </a:r>
            <a:r>
              <a:rPr sz="1800" spc="-5" dirty="0">
                <a:latin typeface="Trebuchet MS" panose="020B0603020202020204"/>
                <a:cs typeface="Trebuchet MS" panose="020B0603020202020204"/>
              </a:rPr>
              <a:t>add</a:t>
            </a:r>
            <a:r>
              <a:rPr sz="1800" spc="10" dirty="0">
                <a:latin typeface="Trebuchet MS" panose="020B0603020202020204"/>
                <a:cs typeface="Trebuchet MS" panose="020B0603020202020204"/>
              </a:rPr>
              <a:t> </a:t>
            </a:r>
            <a:r>
              <a:rPr sz="1800" spc="-5" dirty="0">
                <a:latin typeface="Trebuchet MS" panose="020B0603020202020204"/>
                <a:cs typeface="Trebuchet MS" panose="020B0603020202020204"/>
              </a:rPr>
              <a:t>wireframes</a:t>
            </a:r>
            <a:endParaRPr sz="1800">
              <a:latin typeface="Trebuchet MS" panose="020B0603020202020204"/>
              <a:cs typeface="Trebuchet MS" panose="020B0603020202020204"/>
            </a:endParaRPr>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fld>
            <a:endParaRPr sz="1100">
              <a:latin typeface="Trebuchet MS" panose="020B0603020202020204"/>
              <a:cs typeface="Trebuchet MS" panose="020B0603020202020204"/>
            </a:endParaRPr>
          </a:p>
        </p:txBody>
      </p:sp>
      <p:sp>
        <p:nvSpPr>
          <p:cNvPr id="8" name="object 8"/>
          <p:cNvSpPr txBox="1"/>
          <p:nvPr/>
        </p:nvSpPr>
        <p:spPr>
          <a:xfrm>
            <a:off x="739775" y="291147"/>
            <a:ext cx="3303904" cy="758190"/>
          </a:xfrm>
          <a:prstGeom prst="rect">
            <a:avLst/>
          </a:prstGeom>
        </p:spPr>
        <p:txBody>
          <a:bodyPr vert="horz" wrap="square" lIns="0" tIns="13335" rIns="0" bIns="0" rtlCol="0">
            <a:spAutoFit/>
          </a:bodyPr>
          <a:lstStyle/>
          <a:p>
            <a:pPr marL="12700">
              <a:lnSpc>
                <a:spcPct val="100000"/>
              </a:lnSpc>
              <a:spcBef>
                <a:spcPts val="105"/>
              </a:spcBef>
            </a:pPr>
            <a:r>
              <a:rPr sz="4800" b="1" spc="15" dirty="0">
                <a:latin typeface="Trebuchet MS" panose="020B0603020202020204"/>
                <a:cs typeface="Trebuchet MS" panose="020B0603020202020204"/>
              </a:rPr>
              <a:t>M</a:t>
            </a:r>
            <a:r>
              <a:rPr sz="4800" b="1" dirty="0">
                <a:latin typeface="Trebuchet MS" panose="020B0603020202020204"/>
                <a:cs typeface="Trebuchet MS" panose="020B0603020202020204"/>
              </a:rPr>
              <a:t>O</a:t>
            </a:r>
            <a:r>
              <a:rPr sz="4800" b="1" spc="-15" dirty="0">
                <a:latin typeface="Trebuchet MS" panose="020B0603020202020204"/>
                <a:cs typeface="Trebuchet MS" panose="020B0603020202020204"/>
              </a:rPr>
              <a:t>D</a:t>
            </a:r>
            <a:r>
              <a:rPr sz="4800" b="1" spc="-35" dirty="0">
                <a:latin typeface="Trebuchet MS" panose="020B0603020202020204"/>
                <a:cs typeface="Trebuchet MS" panose="020B0603020202020204"/>
              </a:rPr>
              <a:t>E</a:t>
            </a:r>
            <a:r>
              <a:rPr sz="4800" b="1" spc="-30" dirty="0">
                <a:latin typeface="Trebuchet MS" panose="020B0603020202020204"/>
                <a:cs typeface="Trebuchet MS" panose="020B0603020202020204"/>
              </a:rPr>
              <a:t>LL</a:t>
            </a:r>
            <a:r>
              <a:rPr sz="4800" b="1" spc="-5" dirty="0">
                <a:latin typeface="Trebuchet MS" panose="020B0603020202020204"/>
                <a:cs typeface="Trebuchet MS" panose="020B0603020202020204"/>
              </a:rPr>
              <a:t>I</a:t>
            </a:r>
            <a:r>
              <a:rPr sz="4800" b="1" spc="30" dirty="0">
                <a:latin typeface="Trebuchet MS" panose="020B0603020202020204"/>
                <a:cs typeface="Trebuchet MS" panose="020B0603020202020204"/>
              </a:rPr>
              <a:t>N</a:t>
            </a:r>
            <a:r>
              <a:rPr sz="4800" b="1" spc="5" dirty="0">
                <a:latin typeface="Trebuchet MS" panose="020B0603020202020204"/>
                <a:cs typeface="Trebuchet MS" panose="020B0603020202020204"/>
              </a:rPr>
              <a:t>G</a:t>
            </a:r>
            <a:endParaRPr sz="4800">
              <a:latin typeface="Trebuchet MS" panose="020B0603020202020204"/>
              <a:cs typeface="Trebuchet MS" panose="020B0603020202020204"/>
            </a:endParaRPr>
          </a:p>
        </p:txBody>
      </p:sp>
      <p:sp>
        <p:nvSpPr>
          <p:cNvPr id="10" name="Text Box 9"/>
          <p:cNvSpPr txBox="1"/>
          <p:nvPr/>
        </p:nvSpPr>
        <p:spPr>
          <a:xfrm>
            <a:off x="304800" y="2133600"/>
            <a:ext cx="9870440" cy="4803775"/>
          </a:xfrm>
          <a:prstGeom prst="rect">
            <a:avLst/>
          </a:prstGeom>
          <a:noFill/>
        </p:spPr>
        <p:txBody>
          <a:bodyPr wrap="square" rtlCol="0">
            <a:noAutofit/>
          </a:bodyPr>
          <a:p>
            <a:pPr marL="285750" indent="-285750">
              <a:buFont typeface="Wingdings" panose="05000000000000000000" charset="0"/>
              <a:buChar char="q"/>
            </a:pPr>
            <a:r>
              <a:rPr lang="en-US" b="1" dirty="0">
                <a:latin typeface="Times New Roman" panose="02020603050405020304" pitchFamily="18" charset="0"/>
                <a:cs typeface="Times New Roman" panose="02020603050405020304" pitchFamily="18" charset="0"/>
                <a:sym typeface="+mn-ea"/>
              </a:rPr>
              <a:t>Home Tab:</a:t>
            </a:r>
            <a:r>
              <a:rPr lang="en-US" dirty="0">
                <a:latin typeface="Times New Roman" panose="02020603050405020304" pitchFamily="18" charset="0"/>
                <a:cs typeface="Times New Roman" panose="02020603050405020304" pitchFamily="18" charset="0"/>
                <a:sym typeface="+mn-ea"/>
              </a:rPr>
              <a:t> </a:t>
            </a:r>
            <a:endParaRPr lang="en-US" dirty="0">
              <a:latin typeface="Times New Roman" panose="02020603050405020304" pitchFamily="18" charset="0"/>
              <a:cs typeface="Times New Roman" panose="02020603050405020304" pitchFamily="18" charset="0"/>
              <a:sym typeface="+mn-ea"/>
            </a:endParaRPr>
          </a:p>
          <a:p>
            <a:pPr indent="0">
              <a:buNone/>
            </a:pPr>
            <a:r>
              <a:rPr lang="en-US" dirty="0">
                <a:latin typeface="Times New Roman" panose="02020603050405020304" pitchFamily="18" charset="0"/>
                <a:cs typeface="Times New Roman" panose="02020603050405020304" pitchFamily="18" charset="0"/>
                <a:sym typeface="+mn-ea"/>
              </a:rPr>
              <a:t>   - Overview of the keylogger project, including project status, latest updates, and keymetrics.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   - Quick links to essential project resources, such as documentation, FAQs, and support    channels.</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q"/>
            </a:pPr>
            <a:r>
              <a:rPr lang="en-US" dirty="0">
                <a:latin typeface="Times New Roman" panose="02020603050405020304" pitchFamily="18" charset="0"/>
                <a:cs typeface="Times New Roman" panose="02020603050405020304" pitchFamily="18" charset="0"/>
                <a:sym typeface="+mn-ea"/>
              </a:rPr>
              <a:t> </a:t>
            </a:r>
            <a:r>
              <a:rPr lang="en-US" b="1" dirty="0">
                <a:latin typeface="Times New Roman" panose="02020603050405020304" pitchFamily="18" charset="0"/>
                <a:cs typeface="Times New Roman" panose="02020603050405020304" pitchFamily="18" charset="0"/>
                <a:sym typeface="+mn-ea"/>
              </a:rPr>
              <a:t>Tasks Tab: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   - Kanban-style board for managing keylogger project tasks, with columns for To-Do, In Progress,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        and Completed tasks.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   - Ability to create new tasks, assign them to team members, set due dates, and track progress.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   - Integration with Microsoft Planner or other task management tools for seamless task tracking.</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q"/>
            </a:pPr>
            <a:r>
              <a:rPr lang="en-US" dirty="0">
                <a:latin typeface="Times New Roman" panose="02020603050405020304" pitchFamily="18" charset="0"/>
                <a:cs typeface="Times New Roman" panose="02020603050405020304" pitchFamily="18" charset="0"/>
                <a:sym typeface="+mn-ea"/>
              </a:rPr>
              <a:t> </a:t>
            </a:r>
            <a:r>
              <a:rPr lang="en-US" b="1" dirty="0">
                <a:latin typeface="Times New Roman" panose="02020603050405020304" pitchFamily="18" charset="0"/>
                <a:cs typeface="Times New Roman" panose="02020603050405020304" pitchFamily="18" charset="0"/>
                <a:sym typeface="+mn-ea"/>
              </a:rPr>
              <a:t>Calendar Tab: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   - Shared calendar view displaying key project milestones, deadlines, and meetings.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   - Option to schedule new meetings, sync with Outlook calendar, and set reminders for important events.</a:t>
            </a:r>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3195"/>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6" name="object 6"/>
          <p:cNvPicPr/>
          <p:nvPr/>
        </p:nvPicPr>
        <p:blipFill>
          <a:blip r:embed="rId1"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0" y="385445"/>
            <a:ext cx="10681335" cy="751840"/>
          </a:xfrm>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endParaRPr dirty="0"/>
          </a:p>
        </p:txBody>
      </p:sp>
      <p:sp>
        <p:nvSpPr>
          <p:cNvPr id="9" name="object 9"/>
          <p:cNvSpPr txBox="1"/>
          <p:nvPr/>
        </p:nvSpPr>
        <p:spPr>
          <a:xfrm>
            <a:off x="11277218" y="6473337"/>
            <a:ext cx="228600" cy="175895"/>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fld>
            <a:endParaRPr sz="1100">
              <a:latin typeface="Trebuchet MS" panose="020B0603020202020204"/>
              <a:cs typeface="Trebuchet MS" panose="020B0603020202020204"/>
            </a:endParaRPr>
          </a:p>
        </p:txBody>
      </p:sp>
      <p:pic>
        <p:nvPicPr>
          <p:cNvPr id="22" name="Content Placeholder 21" descr="WhatsApp Image 2024-06-13 at 11.08.46 AM"/>
          <p:cNvPicPr>
            <a:picLocks noChangeAspect="1"/>
          </p:cNvPicPr>
          <p:nvPr>
            <p:ph sz="half" idx="2"/>
          </p:nvPr>
        </p:nvPicPr>
        <p:blipFill>
          <a:blip r:embed="rId2"/>
          <a:stretch>
            <a:fillRect/>
          </a:stretch>
        </p:blipFill>
        <p:spPr>
          <a:xfrm>
            <a:off x="457200" y="1752600"/>
            <a:ext cx="2463800" cy="3092450"/>
          </a:xfrm>
          <a:prstGeom prst="rect">
            <a:avLst/>
          </a:prstGeom>
        </p:spPr>
      </p:pic>
      <p:sp>
        <p:nvSpPr>
          <p:cNvPr id="23" name="Text Box 22"/>
          <p:cNvSpPr txBox="1"/>
          <p:nvPr/>
        </p:nvSpPr>
        <p:spPr>
          <a:xfrm>
            <a:off x="4360545" y="944245"/>
            <a:ext cx="5264150" cy="1501775"/>
          </a:xfrm>
          <a:prstGeom prst="rect">
            <a:avLst/>
          </a:prstGeom>
          <a:noFill/>
        </p:spPr>
        <p:txBody>
          <a:bodyPr wrap="square" rtlCol="0">
            <a:noAutofit/>
          </a:bodyPr>
          <a:p>
            <a:r>
              <a:rPr lang="en-US" b="1">
                <a:latin typeface="Times New Roman" panose="02020603050405020304" pitchFamily="18" charset="0"/>
                <a:cs typeface="Times New Roman" panose="02020603050405020304" pitchFamily="18" charset="0"/>
              </a:rPr>
              <a:t>Key_log Json file:</a:t>
            </a:r>
            <a:r>
              <a:rPr lang="en-US">
                <a:latin typeface="Times New Roman" panose="02020603050405020304" pitchFamily="18" charset="0"/>
                <a:cs typeface="Times New Roman" panose="02020603050405020304" pitchFamily="18" charset="0"/>
              </a:rPr>
              <a:t>[{"Pressed": "'n'"}, {"Held": "'n'"}, {"Released": "'n'"}, {"Pressed": "'o'"}, {"Held": "'o'"}, {"Released": "'o'"}, {"Pressed": "Key.backspace"}, {"Held": "Key.backspace"}, {"Held": "Key.backspace"}, {"Held": "Key.backspace"}, {"Held": "Key.backspace"}]</a:t>
            </a:r>
            <a:endParaRPr lang="en-US">
              <a:latin typeface="Times New Roman" panose="02020603050405020304" pitchFamily="18" charset="0"/>
              <a:cs typeface="Times New Roman" panose="02020603050405020304" pitchFamily="18" charset="0"/>
            </a:endParaRPr>
          </a:p>
        </p:txBody>
      </p:sp>
      <p:sp>
        <p:nvSpPr>
          <p:cNvPr id="29" name="Content Placeholder 28"/>
          <p:cNvSpPr/>
          <p:nvPr>
            <p:ph sz="half" idx="3"/>
          </p:nvPr>
        </p:nvSpPr>
        <p:spPr>
          <a:xfrm>
            <a:off x="4359910" y="2976880"/>
            <a:ext cx="4335780" cy="2568575"/>
          </a:xfrm>
        </p:spPr>
        <p:txBody>
          <a:bodyPr wrap="square">
            <a:noAutofit/>
          </a:bodyPr>
          <a:p>
            <a:r>
              <a:rPr lang="en-US" b="1">
                <a:latin typeface="Times New Roman" panose="02020603050405020304" pitchFamily="18" charset="0"/>
                <a:cs typeface="Times New Roman" panose="02020603050405020304" pitchFamily="18" charset="0"/>
              </a:rPr>
              <a:t>Key Log Text file:</a:t>
            </a:r>
            <a:endParaRPr lang="en-US" b="1">
              <a:latin typeface="Times New Roman" panose="02020603050405020304" pitchFamily="18" charset="0"/>
              <a:cs typeface="Times New Roman" panose="02020603050405020304" pitchFamily="18" charset="0"/>
            </a:endParaRPr>
          </a:p>
        </p:txBody>
      </p:sp>
      <p:pic>
        <p:nvPicPr>
          <p:cNvPr id="32" name="Picture 31" descr="WhatsApp Image 2024-06-13 at 10.53.09 AM"/>
          <p:cNvPicPr>
            <a:picLocks noChangeAspect="1"/>
          </p:cNvPicPr>
          <p:nvPr/>
        </p:nvPicPr>
        <p:blipFill>
          <a:blip r:embed="rId3"/>
          <a:stretch>
            <a:fillRect/>
          </a:stretch>
        </p:blipFill>
        <p:spPr>
          <a:xfrm>
            <a:off x="4267200" y="3507740"/>
            <a:ext cx="5249545" cy="25692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755332" y="385444"/>
            <a:ext cx="10681335" cy="738505"/>
          </a:xfrm>
        </p:spPr>
        <p:txBody>
          <a:bodyPr/>
          <a:p>
            <a:r>
              <a:rPr lang="en-US">
                <a:latin typeface="Times New Roman" panose="02020603050405020304" pitchFamily="18" charset="0"/>
                <a:cs typeface="Times New Roman" panose="02020603050405020304" pitchFamily="18" charset="0"/>
              </a:rPr>
              <a:t>Project Link:</a:t>
            </a:r>
            <a:endParaRPr lang="en-US">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idx="1"/>
          </p:nvPr>
        </p:nvSpPr>
        <p:spPr>
          <a:xfrm>
            <a:off x="533400" y="1600200"/>
            <a:ext cx="10972800" cy="430530"/>
          </a:xfrm>
        </p:spPr>
        <p:txBody>
          <a:bodyPr/>
          <a:p>
            <a:r>
              <a:rPr lang="en-US" sz="2800">
                <a:solidFill>
                  <a:schemeClr val="accent1"/>
                </a:solidFill>
                <a:hlinkClick r:id="rId1" tooltip="" action="ppaction://hlinkfile"/>
              </a:rPr>
              <a:t>https://github.com/Likhitha-yadagiri/project.git</a:t>
            </a:r>
            <a:endParaRPr lang="en-US" sz="280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3505200" y="2268855"/>
            <a:ext cx="4628515" cy="1404620"/>
          </a:xfrm>
          <a:prstGeom prst="rect">
            <a:avLst/>
          </a:prstGeom>
          <a:noFill/>
        </p:spPr>
        <p:txBody>
          <a:bodyPr wrap="square" rtlCol="0">
            <a:noAutofit/>
          </a:bodyPr>
          <a:p>
            <a:r>
              <a:rPr lang="en-US" sz="4400"/>
              <a:t>THANKYOU</a:t>
            </a:r>
            <a:endParaRPr lang="en-US" sz="4400"/>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5288</Words>
  <Application>WPS Presentation</Application>
  <PresentationFormat>Widescreen</PresentationFormat>
  <Paragraphs>139</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Trebuchet MS</vt:lpstr>
      <vt:lpstr>Times New Roman</vt:lpstr>
      <vt:lpstr>Wingdings</vt:lpstr>
      <vt:lpstr>Calibri</vt:lpstr>
      <vt:lpstr>Microsoft YaHei</vt:lpstr>
      <vt:lpstr>Arial Unicode MS</vt:lpstr>
      <vt:lpstr>Segoe UI Variable Text Semiligh</vt:lpstr>
      <vt:lpstr>Segoe UI</vt:lpstr>
      <vt:lpstr>Office Theme</vt:lpstr>
      <vt:lpstr>Yadagiri Likhitha</vt:lpstr>
      <vt:lpstr>PROJECT TITLE</vt:lpstr>
      <vt:lpstr>AGENDA</vt:lpstr>
      <vt:lpstr>PROBLEM	STATEMENT</vt:lpstr>
      <vt:lpstr>PROJECT	OVERVIEW</vt:lpstr>
      <vt:lpstr>WHO ARE THE END USERS?</vt:lpstr>
      <vt:lpstr>YOUR SOLUTION AND ITS VALUE PROPOSITION</vt:lpstr>
      <vt:lpstr>THE WOW IN YOUR SOLUTION</vt:lpstr>
      <vt:lpstr>PowerPoint 演示文稿</vt:lpstr>
      <vt:lpstr>RESULTS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USER</cp:lastModifiedBy>
  <cp:revision>8</cp:revision>
  <dcterms:created xsi:type="dcterms:W3CDTF">2024-06-03T05:48:00Z</dcterms:created>
  <dcterms:modified xsi:type="dcterms:W3CDTF">2024-06-13T07:07:06Z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2024-03-21T16:30:00Z</vt:filetime>
  </property>
  <property fmtid="{D5CDD505-2E9C-101B-9397-08002B2CF9AE}" pid="3" name="LastSaved">
    <vt:filetime>2024-06-03T16:30:00Z</vt:filetime>
  </property>
  <property fmtid="{D5CDD505-2E9C-101B-9397-08002B2CF9AE}" pid="4" name="ICV">
    <vt:lpwstr>916AE78E57BC4F569FD64939982D657A_13</vt:lpwstr>
  </property>
  <property fmtid="{D5CDD505-2E9C-101B-9397-08002B2CF9AE}" pid="5" name="KSOProductBuildVer">
    <vt:lpwstr>1033-12.2.0.17119</vt:lpwstr>
  </property>
</Properties>
</file>